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8"/>
  </p:notesMasterIdLst>
  <p:sldIdLst>
    <p:sldId id="291" r:id="rId2"/>
    <p:sldId id="281" r:id="rId3"/>
    <p:sldId id="290" r:id="rId4"/>
    <p:sldId id="293" r:id="rId5"/>
    <p:sldId id="294" r:id="rId6"/>
    <p:sldId id="296" r:id="rId7"/>
  </p:sldIdLst>
  <p:sldSz cx="12192000" cy="6858000"/>
  <p:notesSz cx="6858000" cy="9144000"/>
  <p:defaultTextStyle>
    <a:defPPr>
      <a:defRPr lang="en-US"/>
    </a:defPPr>
    <a:lvl1pPr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1pPr>
    <a:lvl2pPr marL="4572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2pPr>
    <a:lvl3pPr marL="9144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3pPr>
    <a:lvl4pPr marL="13716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4pPr>
    <a:lvl5pPr marL="18288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5pPr>
    <a:lvl6pPr marL="2286000" algn="l" defTabSz="914400" rtl="0" eaLnBrk="1" latinLnBrk="0" hangingPunct="1">
      <a:defRPr kern="1200">
        <a:solidFill>
          <a:schemeClr val="tx1"/>
        </a:solidFill>
        <a:latin typeface="Calibri" pitchFamily="34" charset="0"/>
        <a:ea typeface="ＭＳ Ｐゴシック" pitchFamily="1" charset="-128"/>
        <a:cs typeface="+mn-cs"/>
      </a:defRPr>
    </a:lvl6pPr>
    <a:lvl7pPr marL="2743200" algn="l" defTabSz="914400" rtl="0" eaLnBrk="1" latinLnBrk="0" hangingPunct="1">
      <a:defRPr kern="1200">
        <a:solidFill>
          <a:schemeClr val="tx1"/>
        </a:solidFill>
        <a:latin typeface="Calibri" pitchFamily="34" charset="0"/>
        <a:ea typeface="ＭＳ Ｐゴシック" pitchFamily="1" charset="-128"/>
        <a:cs typeface="+mn-cs"/>
      </a:defRPr>
    </a:lvl7pPr>
    <a:lvl8pPr marL="3200400" algn="l" defTabSz="914400" rtl="0" eaLnBrk="1" latinLnBrk="0" hangingPunct="1">
      <a:defRPr kern="1200">
        <a:solidFill>
          <a:schemeClr val="tx1"/>
        </a:solidFill>
        <a:latin typeface="Calibri" pitchFamily="34" charset="0"/>
        <a:ea typeface="ＭＳ Ｐゴシック" pitchFamily="1" charset="-128"/>
        <a:cs typeface="+mn-cs"/>
      </a:defRPr>
    </a:lvl8pPr>
    <a:lvl9pPr marL="3657600" algn="l" defTabSz="914400" rtl="0" eaLnBrk="1" latinLnBrk="0" hangingPunct="1">
      <a:defRPr kern="1200">
        <a:solidFill>
          <a:schemeClr val="tx1"/>
        </a:solidFill>
        <a:latin typeface="Calibri" pitchFamily="34" charset="0"/>
        <a:ea typeface="ＭＳ Ｐゴシック" pitchFamily="1"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BB59"/>
    <a:srgbClr val="39B0D4"/>
    <a:srgbClr val="727272"/>
    <a:srgbClr val="010000"/>
    <a:srgbClr val="FFA751"/>
    <a:srgbClr val="32323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snapToObjects="1">
      <p:cViewPr varScale="1">
        <p:scale>
          <a:sx n="89" d="100"/>
          <a:sy n="89" d="100"/>
        </p:scale>
        <p:origin x="466" y="72"/>
      </p:cViewPr>
      <p:guideLst>
        <p:guide orient="horz" pos="2160"/>
        <p:guide pos="3840"/>
      </p:guideLst>
    </p:cSldViewPr>
  </p:slideViewPr>
  <p:notesTextViewPr>
    <p:cViewPr>
      <p:scale>
        <a:sx n="100" d="100"/>
        <a:sy n="100" d="100"/>
      </p:scale>
      <p:origin x="0" y="0"/>
    </p:cViewPr>
  </p:notesTextViewPr>
  <p:sorterViewPr>
    <p:cViewPr>
      <p:scale>
        <a:sx n="125" d="100"/>
        <a:sy n="125"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fld id="{C4D5ADD5-2BBC-4A94-8F86-D9013941F742}" type="datetimeFigureOut">
              <a:rPr lang="en-US"/>
              <a:pPr/>
              <a:t>9/23/2025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EC790738-CFC9-4A5E-8424-6B42AA5706F7}" type="slidenum">
              <a:rPr lang="en-US"/>
              <a:pPr/>
              <a:t>‹#›</a:t>
            </a:fld>
            <a:endParaRPr lang="en-US"/>
          </a:p>
        </p:txBody>
      </p:sp>
    </p:spTree>
    <p:extLst>
      <p:ext uri="{BB962C8B-B14F-4D97-AF65-F5344CB8AC3E}">
        <p14:creationId xmlns:p14="http://schemas.microsoft.com/office/powerpoint/2010/main" val="235749454"/>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6386"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6387" name="Slide Number Placeholder 3"/>
          <p:cNvSpPr>
            <a:spLocks noGrp="1"/>
          </p:cNvSpPr>
          <p:nvPr>
            <p:ph type="sldNum" sz="quarter" idx="5"/>
          </p:nvPr>
        </p:nvSpPr>
        <p:spPr bwMode="auto">
          <a:noFill/>
          <a:ln>
            <a:miter lim="800000"/>
            <a:headEnd/>
            <a:tailEnd/>
          </a:ln>
        </p:spPr>
        <p:txBody>
          <a:bodyPr/>
          <a:lstStyle/>
          <a:p>
            <a:fld id="{65F62A7E-A2F8-438F-9CF8-47DE63F471B4}" type="slidenum">
              <a:rPr lang="en-US"/>
              <a:pPr/>
              <a:t>2</a:t>
            </a:fld>
            <a:endParaRPr lang="en-US"/>
          </a:p>
        </p:txBody>
      </p:sp>
    </p:spTree>
    <p:extLst>
      <p:ext uri="{BB962C8B-B14F-4D97-AF65-F5344CB8AC3E}">
        <p14:creationId xmlns:p14="http://schemas.microsoft.com/office/powerpoint/2010/main" val="29040732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fld id="{0CA7B74D-3791-4AC6-8451-F10DBCCCDD9A}" type="slidenum">
              <a:rPr lang="en-US"/>
              <a:pPr/>
              <a:t>3</a:t>
            </a:fld>
            <a:endParaRPr lang="en-US"/>
          </a:p>
        </p:txBody>
      </p:sp>
    </p:spTree>
    <p:extLst>
      <p:ext uri="{BB962C8B-B14F-4D97-AF65-F5344CB8AC3E}">
        <p14:creationId xmlns:p14="http://schemas.microsoft.com/office/powerpoint/2010/main" val="23352062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3773505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26417228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19086727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fld id="{E60792E3-D524-454C-8AFD-A91972900BCB}" type="datetime1">
              <a:rPr lang="en-US" smtClean="0"/>
              <a:t>9/23/2025</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5B7E1BAA-A38D-40DE-B22C-DF9BD7D82058}"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708B7524-32A2-4C20-A58C-BC3BAA1042FC}" type="datetime1">
              <a:rPr lang="en-US" smtClean="0"/>
              <a:t>9/23/2025</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677C3CE7-23F7-4828-823C-E0205DF2CF97}"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1E994447-D6B2-43BB-A877-57F1A267B999}" type="datetime1">
              <a:rPr lang="en-US" smtClean="0"/>
              <a:t>9/23/2025</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41DB31D2-2A87-4F4C-A9AD-05C6CC2B321D}"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fld id="{68920E16-BD35-483C-AA6B-346FC7E46DEA}" type="datetime1">
              <a:rPr lang="en-US" smtClean="0"/>
              <a:t>9/23/2025</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E1FC16D9-1635-4844-816A-0A8A2160FADA}"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fld id="{2FEAC6F8-5103-4FC0-A69E-5C6AE6469DA8}" type="datetime1">
              <a:rPr lang="en-US" smtClean="0"/>
              <a:t>9/23/2025</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9" name="Slide Number Placeholder 5"/>
          <p:cNvSpPr>
            <a:spLocks noGrp="1"/>
          </p:cNvSpPr>
          <p:nvPr>
            <p:ph type="sldNum" sz="quarter" idx="12"/>
          </p:nvPr>
        </p:nvSpPr>
        <p:spPr/>
        <p:txBody>
          <a:bodyPr/>
          <a:lstStyle>
            <a:lvl1pPr>
              <a:defRPr/>
            </a:lvl1pPr>
          </a:lstStyle>
          <a:p>
            <a:fld id="{71C4100A-98DE-4944-910A-A93F5CA9F724}"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fld id="{C60C6921-0627-4C8F-83D5-0CF936D2FFDD}" type="datetime1">
              <a:rPr lang="en-US" smtClean="0"/>
              <a:t>9/23/2025</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5" name="Slide Number Placeholder 5"/>
          <p:cNvSpPr>
            <a:spLocks noGrp="1"/>
          </p:cNvSpPr>
          <p:nvPr>
            <p:ph type="sldNum" sz="quarter" idx="12"/>
          </p:nvPr>
        </p:nvSpPr>
        <p:spPr/>
        <p:txBody>
          <a:bodyPr/>
          <a:lstStyle>
            <a:lvl1pPr>
              <a:defRPr/>
            </a:lvl1pPr>
          </a:lstStyle>
          <a:p>
            <a:fld id="{6A63342B-5A73-45DC-864D-086DE78037EF}"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2FF08AD7-8103-40F8-983C-E2BA6BB9CBE0}" type="datetime1">
              <a:rPr lang="en-US" smtClean="0"/>
              <a:t>9/23/2025</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4" name="Slide Number Placeholder 5"/>
          <p:cNvSpPr>
            <a:spLocks noGrp="1"/>
          </p:cNvSpPr>
          <p:nvPr>
            <p:ph type="sldNum" sz="quarter" idx="12"/>
          </p:nvPr>
        </p:nvSpPr>
        <p:spPr/>
        <p:txBody>
          <a:bodyPr/>
          <a:lstStyle>
            <a:lvl1pPr>
              <a:defRPr/>
            </a:lvl1pPr>
          </a:lstStyle>
          <a:p>
            <a:fld id="{B635AFB3-1ACD-44AC-8702-86B1729DF035}"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DF8C06B4-9380-4A4D-AF49-A3596E17DAF5}" type="datetime1">
              <a:rPr lang="en-US" smtClean="0"/>
              <a:t>9/23/2025</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05CF15F3-5E77-4C57-9E21-50D6D1D6C022}"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EF7FDEF1-C582-4E22-9E77-D68326471F28}" type="datetime1">
              <a:rPr lang="en-US" smtClean="0"/>
              <a:t>9/23/2025</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1242169A-B3C7-4FB6-967F-AF95F4EB3315}"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053C3A68-6922-42D3-8905-ECC2D82A3469}" type="datetime1">
              <a:rPr lang="en-US" smtClean="0"/>
              <a:t>9/23/2025</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94FDD027-5576-4F27-AAB6-1D994836EE78}"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CB69E9F4-7604-4950-A8B2-8ACDEDB1506E}" type="datetime1">
              <a:rPr lang="en-US" smtClean="0"/>
              <a:t>9/23/2025</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2957CE61-8714-431B-A40A-01B1C5541AB7}"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47625"/>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609600" y="1095375"/>
            <a:ext cx="10972800" cy="50307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3"/>
            <a:ext cx="28448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TradeGothic" pitchFamily="1" charset="0"/>
              </a:defRPr>
            </a:lvl1pPr>
          </a:lstStyle>
          <a:p>
            <a:fld id="{780A9602-A9A9-453F-AEF1-37B5837E02CD}" type="datetime1">
              <a:rPr lang="en-US" smtClean="0"/>
              <a:t>9/23/2025</a:t>
            </a:fld>
            <a:endParaRPr lang="en-US"/>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TradeGothic"/>
                <a:ea typeface="+mn-ea"/>
                <a:cs typeface="+mn-cs"/>
              </a:defRPr>
            </a:lvl1pPr>
          </a:lstStyle>
          <a:p>
            <a:pPr>
              <a:defRPr/>
            </a:pPr>
            <a:r>
              <a:rPr lang="en-US"/>
              <a:t>@SIH Idea submission- Template</a:t>
            </a:r>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TradeGothic" pitchFamily="1" charset="0"/>
              </a:defRPr>
            </a:lvl1pPr>
          </a:lstStyle>
          <a:p>
            <a:fld id="{1411BA53-830D-4830-BB65-E58DBE17D0B7}"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457200" rtl="0" eaLnBrk="0" fontAlgn="base" hangingPunct="0">
        <a:spcBef>
          <a:spcPct val="0"/>
        </a:spcBef>
        <a:spcAft>
          <a:spcPct val="0"/>
        </a:spcAft>
        <a:defRPr sz="4400" kern="1200">
          <a:solidFill>
            <a:schemeClr val="tx1"/>
          </a:solidFill>
          <a:latin typeface="TradeGothic"/>
          <a:ea typeface="ＭＳ Ｐゴシック" charset="0"/>
          <a:cs typeface="ＭＳ Ｐゴシック" charset="0"/>
        </a:defRPr>
      </a:lvl1pPr>
      <a:lvl2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2pPr>
      <a:lvl3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3pPr>
      <a:lvl4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4pPr>
      <a:lvl5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5pPr>
      <a:lvl6pPr marL="4572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6pPr>
      <a:lvl7pPr marL="9144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7pPr>
      <a:lvl8pPr marL="13716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8pPr>
      <a:lvl9pPr marL="18288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9pPr>
    </p:titleStyle>
    <p:bodyStyle>
      <a:lvl1pPr marL="342900" indent="-342900" algn="l" defTabSz="457200" rtl="0" eaLnBrk="0" fontAlgn="base" hangingPunct="0">
        <a:spcBef>
          <a:spcPct val="20000"/>
        </a:spcBef>
        <a:spcAft>
          <a:spcPct val="0"/>
        </a:spcAft>
        <a:buFont typeface="Arial" pitchFamily="34" charset="0"/>
        <a:buChar char="•"/>
        <a:defRPr sz="3200" kern="1200">
          <a:solidFill>
            <a:schemeClr val="tx1"/>
          </a:solidFill>
          <a:latin typeface="TradeGothic"/>
          <a:ea typeface="ＭＳ Ｐゴシック" charset="0"/>
          <a:cs typeface="ＭＳ Ｐゴシック" charset="0"/>
        </a:defRPr>
      </a:lvl1pPr>
      <a:lvl2pPr marL="742950" indent="-285750" algn="l" defTabSz="457200" rtl="0" eaLnBrk="0" fontAlgn="base" hangingPunct="0">
        <a:spcBef>
          <a:spcPct val="20000"/>
        </a:spcBef>
        <a:spcAft>
          <a:spcPct val="0"/>
        </a:spcAft>
        <a:buFont typeface="Arial" pitchFamily="34" charset="0"/>
        <a:buChar char="–"/>
        <a:defRPr sz="2800" kern="1200">
          <a:solidFill>
            <a:schemeClr val="tx1"/>
          </a:solidFill>
          <a:latin typeface="TradeGothic"/>
          <a:ea typeface="ＭＳ Ｐゴシック" charset="0"/>
          <a:cs typeface="+mn-cs"/>
        </a:defRPr>
      </a:lvl2pPr>
      <a:lvl3pPr marL="1143000" indent="-228600" algn="l" defTabSz="457200" rtl="0" eaLnBrk="0" fontAlgn="base" hangingPunct="0">
        <a:spcBef>
          <a:spcPct val="20000"/>
        </a:spcBef>
        <a:spcAft>
          <a:spcPct val="0"/>
        </a:spcAft>
        <a:buFont typeface="Arial" pitchFamily="34" charset="0"/>
        <a:buChar char="•"/>
        <a:defRPr sz="2400" kern="1200">
          <a:solidFill>
            <a:schemeClr val="tx1"/>
          </a:solidFill>
          <a:latin typeface="TradeGothic"/>
          <a:ea typeface="ＭＳ Ｐゴシック" charset="0"/>
          <a:cs typeface="+mn-cs"/>
        </a:defRPr>
      </a:lvl3pPr>
      <a:lvl4pPr marL="16002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4pPr>
      <a:lvl5pPr marL="20574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24">
            <a:extLst>
              <a:ext uri="{FF2B5EF4-FFF2-40B4-BE49-F238E27FC236}">
                <a16:creationId xmlns:a16="http://schemas.microsoft.com/office/drawing/2014/main" id="{3E443FD7-A66B-4AA0-872D-B088B9BC5F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26">
            <a:extLst>
              <a:ext uri="{FF2B5EF4-FFF2-40B4-BE49-F238E27FC236}">
                <a16:creationId xmlns:a16="http://schemas.microsoft.com/office/drawing/2014/main" id="{C04BE0EF-3561-49B4-9A29-F283168A9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56780" y="851521"/>
            <a:ext cx="4638605" cy="5154967"/>
          </a:xfrm>
          <a:custGeom>
            <a:avLst/>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0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3 h 5154967"/>
              <a:gd name="connsiteX37" fmla="*/ 1625714 w 6184806"/>
              <a:gd name="connsiteY37" fmla="*/ 109243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2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a:schemeClr val="tx1">
              <a:lumMod val="50000"/>
              <a:lumOff val="5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a:extLst>
              <a:ext uri="{FF2B5EF4-FFF2-40B4-BE49-F238E27FC236}">
                <a16:creationId xmlns:a16="http://schemas.microsoft.com/office/drawing/2014/main" id="{9120848B-B2B4-45BE-A961-AEC0B06CF41B}"/>
              </a:ext>
            </a:extLst>
          </p:cNvPr>
          <p:cNvPicPr>
            <a:picLocks noChangeAspect="1"/>
          </p:cNvPicPr>
          <p:nvPr/>
        </p:nvPicPr>
        <p:blipFill rotWithShape="1">
          <a:blip r:embed="rId2"/>
          <a:srcRect r="59916"/>
          <a:stretch/>
        </p:blipFill>
        <p:spPr>
          <a:xfrm>
            <a:off x="6854891" y="1715881"/>
            <a:ext cx="3203509" cy="3426237"/>
          </a:xfrm>
          <a:prstGeom prst="rect">
            <a:avLst/>
          </a:prstGeom>
        </p:spPr>
      </p:pic>
      <p:sp>
        <p:nvSpPr>
          <p:cNvPr id="4" name="Subtitle 3"/>
          <p:cNvSpPr>
            <a:spLocks noGrp="1"/>
          </p:cNvSpPr>
          <p:nvPr>
            <p:ph type="subTitle" idx="1"/>
          </p:nvPr>
        </p:nvSpPr>
        <p:spPr>
          <a:xfrm>
            <a:off x="1245686" y="648614"/>
            <a:ext cx="8534400" cy="1752600"/>
          </a:xfrm>
        </p:spPr>
        <p:txBody>
          <a:bodyPr/>
          <a:lstStyle/>
          <a:p>
            <a:endParaRPr lang="en-US" b="1" dirty="0">
              <a:solidFill>
                <a:schemeClr val="tx1"/>
              </a:solidFill>
              <a:latin typeface="Times New Roman" panose="02020603050405020304" pitchFamily="18" charset="0"/>
              <a:cs typeface="Times New Roman" panose="02020603050405020304" pitchFamily="18" charset="0"/>
            </a:endParaRPr>
          </a:p>
          <a:p>
            <a:r>
              <a:rPr lang="en-US" b="1" dirty="0">
                <a:solidFill>
                  <a:schemeClr val="tx1"/>
                </a:solidFill>
                <a:latin typeface="Times New Roman" panose="02020603050405020304" pitchFamily="18" charset="0"/>
                <a:cs typeface="Times New Roman" panose="02020603050405020304" pitchFamily="18" charset="0"/>
              </a:rPr>
              <a:t>TITLE PAGE</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8" name="Title 7"/>
          <p:cNvSpPr>
            <a:spLocks noGrp="1"/>
          </p:cNvSpPr>
          <p:nvPr>
            <p:ph type="ctrTitle"/>
          </p:nvPr>
        </p:nvSpPr>
        <p:spPr>
          <a:xfrm>
            <a:off x="331286" y="-526757"/>
            <a:ext cx="10363200" cy="2076450"/>
          </a:xfrm>
        </p:spPr>
        <p:txBody>
          <a:bodyPr/>
          <a:lstStyle/>
          <a:p>
            <a:r>
              <a:rPr lang="en-US" sz="4000" b="1" dirty="0">
                <a:solidFill>
                  <a:schemeClr val="tx2"/>
                </a:solidFill>
                <a:latin typeface="Garamond" panose="02020404030301010803" pitchFamily="18" charset="0"/>
              </a:rPr>
              <a:t>SMART INDIA HACKATHON 2025</a:t>
            </a:r>
            <a:endParaRPr lang="en-IN" sz="4000" b="1" dirty="0">
              <a:solidFill>
                <a:schemeClr val="tx2"/>
              </a:solidFill>
              <a:latin typeface="Garamond" panose="02020404030301010803" pitchFamily="18" charset="0"/>
            </a:endParaRPr>
          </a:p>
        </p:txBody>
      </p:sp>
      <p:sp>
        <p:nvSpPr>
          <p:cNvPr id="10" name="TextBox 9"/>
          <p:cNvSpPr txBox="1"/>
          <p:nvPr/>
        </p:nvSpPr>
        <p:spPr>
          <a:xfrm>
            <a:off x="331286" y="1524914"/>
            <a:ext cx="5924550" cy="5055999"/>
          </a:xfrm>
          <a:prstGeom prst="rect">
            <a:avLst/>
          </a:prstGeom>
          <a:noFill/>
        </p:spPr>
        <p:txBody>
          <a:bodyPr wrap="square" rtlCol="0">
            <a:spAutoFit/>
          </a:bodyPr>
          <a:lstStyle/>
          <a:p>
            <a:endParaRPr lang="en-US" dirty="0"/>
          </a:p>
          <a:p>
            <a:pPr marL="285750" indent="-285750" algn="just">
              <a:lnSpc>
                <a:spcPct val="200000"/>
              </a:lnSpc>
              <a:buFont typeface="Arial" panose="020B0604020202020204" pitchFamily="34" charset="0"/>
              <a:buChar char="•"/>
            </a:pPr>
            <a:r>
              <a:rPr lang="en-US" sz="2400" b="1" dirty="0">
                <a:latin typeface="Arial" panose="020B0604020202020204" pitchFamily="34" charset="0"/>
                <a:cs typeface="Arial" panose="020B0604020202020204" pitchFamily="34" charset="0"/>
              </a:rPr>
              <a:t>Problem Statement ID – </a:t>
            </a:r>
            <a:r>
              <a:rPr lang="en-IN" sz="2400" dirty="0"/>
              <a:t>25016</a:t>
            </a:r>
            <a:endParaRPr lang="en-US" sz="2400" b="1" dirty="0">
              <a:latin typeface="Arial" panose="020B0604020202020204" pitchFamily="34" charset="0"/>
              <a:cs typeface="Arial" panose="020B0604020202020204" pitchFamily="34" charset="0"/>
            </a:endParaRPr>
          </a:p>
          <a:p>
            <a:pPr marL="285750" indent="-285750" algn="just">
              <a:buFont typeface="Arial" panose="020B0604020202020204" pitchFamily="34" charset="0"/>
              <a:buChar char="•"/>
            </a:pPr>
            <a:r>
              <a:rPr lang="en-US" sz="2400" b="1" dirty="0">
                <a:latin typeface="Arial" panose="020B0604020202020204" pitchFamily="34" charset="0"/>
                <a:cs typeface="Arial" panose="020B0604020202020204" pitchFamily="34" charset="0"/>
              </a:rPr>
              <a:t>Problem Statement Title- </a:t>
            </a:r>
            <a:r>
              <a:rPr lang="en-US" sz="2400" dirty="0"/>
              <a:t>Automated Student Attendance Monitoring and Analytics System for Colleges</a:t>
            </a:r>
            <a:endParaRPr lang="en-US" sz="2400" b="1" dirty="0">
              <a:latin typeface="Arial" panose="020B0604020202020204" pitchFamily="34" charset="0"/>
              <a:cs typeface="Arial" panose="020B0604020202020204" pitchFamily="34" charset="0"/>
            </a:endParaRPr>
          </a:p>
          <a:p>
            <a:pPr marL="285750" indent="-285750" algn="just">
              <a:lnSpc>
                <a:spcPct val="200000"/>
              </a:lnSpc>
              <a:buFont typeface="Arial" panose="020B0604020202020204" pitchFamily="34" charset="0"/>
              <a:buChar char="•"/>
            </a:pPr>
            <a:r>
              <a:rPr lang="en-US" sz="2400" b="1" dirty="0">
                <a:latin typeface="Arial" panose="020B0604020202020204" pitchFamily="34" charset="0"/>
                <a:cs typeface="Arial" panose="020B0604020202020204" pitchFamily="34" charset="0"/>
              </a:rPr>
              <a:t>Theme- </a:t>
            </a:r>
            <a:r>
              <a:rPr lang="en-IN" sz="2400" dirty="0"/>
              <a:t>Smart Education</a:t>
            </a:r>
            <a:endParaRPr lang="en-US" sz="2400" b="1" dirty="0">
              <a:latin typeface="Arial" panose="020B0604020202020204" pitchFamily="34" charset="0"/>
              <a:cs typeface="Arial" panose="020B0604020202020204" pitchFamily="34" charset="0"/>
            </a:endParaRPr>
          </a:p>
          <a:p>
            <a:pPr marL="285750" indent="-285750" algn="just">
              <a:lnSpc>
                <a:spcPct val="200000"/>
              </a:lnSpc>
              <a:buFont typeface="Arial" panose="020B0604020202020204" pitchFamily="34" charset="0"/>
              <a:buChar char="•"/>
            </a:pPr>
            <a:r>
              <a:rPr lang="en-US" sz="2400" b="1" dirty="0">
                <a:latin typeface="Arial" panose="020B0604020202020204" pitchFamily="34" charset="0"/>
                <a:cs typeface="Arial" panose="020B0604020202020204" pitchFamily="34" charset="0"/>
              </a:rPr>
              <a:t>PS Category- Software</a:t>
            </a:r>
          </a:p>
          <a:p>
            <a:pPr marL="285750" indent="-285750" algn="just">
              <a:lnSpc>
                <a:spcPct val="200000"/>
              </a:lnSpc>
              <a:buFont typeface="Arial" panose="020B0604020202020204" pitchFamily="34" charset="0"/>
              <a:buChar char="•"/>
            </a:pPr>
            <a:r>
              <a:rPr lang="en-US" sz="2400" b="1" dirty="0">
                <a:latin typeface="Arial" panose="020B0604020202020204" pitchFamily="34" charset="0"/>
                <a:cs typeface="Arial" panose="020B0604020202020204" pitchFamily="34" charset="0"/>
              </a:rPr>
              <a:t>Team ID- </a:t>
            </a:r>
            <a:r>
              <a:rPr lang="en-US" sz="2400" dirty="0">
                <a:latin typeface="Arial" panose="020B0604020202020204" pitchFamily="34" charset="0"/>
                <a:cs typeface="Arial" panose="020B0604020202020204" pitchFamily="34" charset="0"/>
              </a:rPr>
              <a:t>S113</a:t>
            </a:r>
            <a:endParaRPr lang="en-US" sz="2400" b="1" dirty="0">
              <a:latin typeface="Arial" panose="020B0604020202020204" pitchFamily="34" charset="0"/>
              <a:cs typeface="Arial" panose="020B0604020202020204" pitchFamily="34" charset="0"/>
            </a:endParaRPr>
          </a:p>
          <a:p>
            <a:pPr marL="285750" indent="-285750" algn="just">
              <a:lnSpc>
                <a:spcPct val="200000"/>
              </a:lnSpc>
              <a:buFont typeface="Arial" panose="020B0604020202020204" pitchFamily="34" charset="0"/>
              <a:buChar char="•"/>
            </a:pPr>
            <a:r>
              <a:rPr lang="en-US" sz="2400" b="1" dirty="0">
                <a:latin typeface="Arial" panose="020B0604020202020204" pitchFamily="34" charset="0"/>
                <a:cs typeface="Arial" panose="020B0604020202020204" pitchFamily="34" charset="0"/>
              </a:rPr>
              <a:t>Team Name- </a:t>
            </a:r>
            <a:r>
              <a:rPr lang="en-US" sz="2400" dirty="0">
                <a:latin typeface="Arial" panose="020B0604020202020204" pitchFamily="34" charset="0"/>
                <a:cs typeface="Arial" panose="020B0604020202020204" pitchFamily="34" charset="0"/>
              </a:rPr>
              <a:t>paradox</a:t>
            </a:r>
            <a:r>
              <a:rPr lang="en-US" sz="2400" b="1" dirty="0">
                <a:latin typeface="Arial" panose="020B0604020202020204" pitchFamily="34" charset="0"/>
                <a:cs typeface="Arial" panose="020B0604020202020204" pitchFamily="34" charset="0"/>
              </a:rPr>
              <a:t> </a:t>
            </a:r>
            <a:endParaRPr lang="en-IN" sz="2400" b="1" dirty="0">
              <a:latin typeface="Arial" panose="020B0604020202020204" pitchFamily="34" charset="0"/>
              <a:cs typeface="Arial" panose="020B0604020202020204" pitchFamily="34" charset="0"/>
            </a:endParaRPr>
          </a:p>
        </p:txBody>
      </p:sp>
      <p:pic>
        <p:nvPicPr>
          <p:cNvPr id="1026" name="Picture 2" descr="https://www.sih.gov.in/img1/SIH-Logo.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41366" y="6297"/>
            <a:ext cx="2209120" cy="112286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5361" name="Title 1"/>
          <p:cNvSpPr>
            <a:spLocks noGrp="1"/>
          </p:cNvSpPr>
          <p:nvPr>
            <p:ph type="title"/>
          </p:nvPr>
        </p:nvSpPr>
        <p:spPr>
          <a:xfrm>
            <a:off x="182998" y="0"/>
            <a:ext cx="10972800" cy="1143000"/>
          </a:xfrm>
        </p:spPr>
        <p:txBody>
          <a:bodyPr/>
          <a:lstStyle/>
          <a:p>
            <a:pPr eaLnBrk="1" hangingPunct="1"/>
            <a:r>
              <a:rPr lang="en-US" sz="2800" b="1" dirty="0">
                <a:latin typeface="Times New Roman" panose="02020603050405020304" pitchFamily="18" charset="0"/>
                <a:ea typeface="ＭＳ Ｐゴシック" pitchFamily="1" charset="-128"/>
                <a:cs typeface="Times New Roman" panose="02020603050405020304" pitchFamily="18" charset="0"/>
              </a:rPr>
              <a:t>No More Roll Call: Face Recognition to the Rescue</a:t>
            </a:r>
          </a:p>
        </p:txBody>
      </p:sp>
      <p:sp>
        <p:nvSpPr>
          <p:cNvPr id="15362" name="TextBox 8"/>
          <p:cNvSpPr txBox="1">
            <a:spLocks noChangeArrowheads="1"/>
          </p:cNvSpPr>
          <p:nvPr/>
        </p:nvSpPr>
        <p:spPr bwMode="auto">
          <a:xfrm>
            <a:off x="638354" y="1416926"/>
            <a:ext cx="12191999" cy="4524315"/>
          </a:xfrm>
          <a:prstGeom prst="rect">
            <a:avLst/>
          </a:prstGeom>
          <a:noFill/>
          <a:ln w="9525">
            <a:noFill/>
            <a:miter lim="800000"/>
            <a:headEnd/>
            <a:tailEnd/>
          </a:ln>
        </p:spPr>
        <p:txBody>
          <a:bodyPr wrap="square">
            <a:spAutoFit/>
          </a:bodyPr>
          <a:lstStyle/>
          <a:p>
            <a:r>
              <a:rPr lang="en-US" b="1" dirty="0">
                <a:latin typeface="Arial" panose="020B0604020202020204" pitchFamily="34" charset="0"/>
                <a:cs typeface="Arial" panose="020B0604020202020204" pitchFamily="34" charset="0"/>
              </a:rPr>
              <a:t>PROPOSED SOLUTION: Facial Recognition Attendance System</a:t>
            </a:r>
          </a:p>
          <a:p>
            <a:endParaRPr lang="en-US" b="1"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b="1" dirty="0">
                <a:latin typeface="Arial" panose="020B0604020202020204" pitchFamily="34" charset="0"/>
                <a:cs typeface="Arial" panose="020B0604020202020204" pitchFamily="34" charset="0"/>
              </a:rPr>
              <a:t>Solution Overview</a:t>
            </a:r>
            <a:endParaRPr lang="en-U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AI-powered facial recognition model detects student faces in real-time via camera.</a:t>
            </a:r>
          </a:p>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Automatically marks attendance in a CSV database (Name, Date, Time) while avoiding duplicates.</a:t>
            </a:r>
          </a:p>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Unknown faces can be registered instantly, updating the dataset dynamically.</a:t>
            </a:r>
          </a:p>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Generates structured attendance reports for faculty/admins.</a:t>
            </a:r>
          </a:p>
          <a:p>
            <a:endParaRPr lang="en-U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b="1" dirty="0">
                <a:latin typeface="Arial" panose="020B0604020202020204" pitchFamily="34" charset="0"/>
                <a:cs typeface="Arial" panose="020B0604020202020204" pitchFamily="34" charset="0"/>
              </a:rPr>
              <a:t>How it Addresses the Problem</a:t>
            </a:r>
            <a:endParaRPr lang="en-U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Eliminates manual roll calls &amp; proxy attendance.</a:t>
            </a:r>
          </a:p>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Provides real-time, accurate, and transparent attendance records.</a:t>
            </a:r>
          </a:p>
          <a:p>
            <a:endParaRPr lang="en-U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b="1" dirty="0">
                <a:latin typeface="Arial" panose="020B0604020202020204" pitchFamily="34" charset="0"/>
                <a:cs typeface="Arial" panose="020B0604020202020204" pitchFamily="34" charset="0"/>
              </a:rPr>
              <a:t>Innovation &amp; Uniqueness</a:t>
            </a:r>
            <a:endParaRPr lang="en-U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Dynamic dataset updating for new students without restarting system.</a:t>
            </a:r>
          </a:p>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Real-time recognition + automatic reporting in a single workflow.</a:t>
            </a:r>
          </a:p>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Combines AI facial recognition + cloud-based analytics, unlike traditional or QR-based methods.</a:t>
            </a:r>
          </a:p>
        </p:txBody>
      </p:sp>
      <p:sp>
        <p:nvSpPr>
          <p:cNvPr id="6" name="Slide Number Placeholder 5"/>
          <p:cNvSpPr>
            <a:spLocks noGrp="1"/>
          </p:cNvSpPr>
          <p:nvPr>
            <p:ph type="sldNum" sz="quarter" idx="12"/>
          </p:nvPr>
        </p:nvSpPr>
        <p:spPr/>
        <p:txBody>
          <a:bodyPr/>
          <a:lstStyle/>
          <a:p>
            <a:fld id="{677C3CE7-23F7-4828-823C-E0205DF2CF97}" type="slidenum">
              <a:rPr lang="en-US" b="1" smtClean="0">
                <a:solidFill>
                  <a:schemeClr val="bg1"/>
                </a:solidFill>
              </a:rPr>
              <a:pPr/>
              <a:t>2</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Template</a:t>
            </a:r>
            <a:endParaRPr lang="en-US" dirty="0">
              <a:solidFill>
                <a:schemeClr val="bg1"/>
              </a:solidFill>
            </a:endParaRPr>
          </a:p>
        </p:txBody>
      </p:sp>
      <p:sp>
        <p:nvSpPr>
          <p:cNvPr id="10" name="Oval 9"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326499"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t>paradox</a:t>
            </a:r>
            <a:endParaRPr lang="en-IN" dirty="0"/>
          </a:p>
        </p:txBody>
      </p:sp>
      <p:pic>
        <p:nvPicPr>
          <p:cNvPr id="12" name="Picture 2" descr="https://www.sih.gov.in/img1/SIH-Logo.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41366" y="57097"/>
            <a:ext cx="2209120" cy="112286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TECHNICAL APPROACH</a:t>
            </a:r>
          </a:p>
        </p:txBody>
      </p:sp>
      <p:sp>
        <p:nvSpPr>
          <p:cNvPr id="6" name="Slide Number Placeholder 5"/>
          <p:cNvSpPr>
            <a:spLocks noGrp="1"/>
          </p:cNvSpPr>
          <p:nvPr>
            <p:ph type="sldNum" sz="quarter" idx="12"/>
          </p:nvPr>
        </p:nvSpPr>
        <p:spPr/>
        <p:txBody>
          <a:bodyPr/>
          <a:lstStyle/>
          <a:p>
            <a:fld id="{677C3CE7-23F7-4828-823C-E0205DF2CF97}" type="slidenum">
              <a:rPr lang="en-US" b="1">
                <a:solidFill>
                  <a:schemeClr val="bg1"/>
                </a:solidFill>
              </a:rPr>
              <a:pPr/>
              <a:t>3</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Template</a:t>
            </a:r>
            <a:endParaRPr lang="en-US" dirty="0">
              <a:solidFill>
                <a:schemeClr val="bg1"/>
              </a:solidFill>
            </a:endParaRPr>
          </a:p>
        </p:txBody>
      </p:sp>
      <p:sp>
        <p:nvSpPr>
          <p:cNvPr id="11" name="Oval 10"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317872"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t>Paradox</a:t>
            </a:r>
          </a:p>
        </p:txBody>
      </p:sp>
      <p:pic>
        <p:nvPicPr>
          <p:cNvPr id="9" name="Picture 2" descr="https://www.sih.gov.in/img1/SIH-Logo.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41366" y="57097"/>
            <a:ext cx="2209120" cy="1122868"/>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B5826DAC-4B94-BD5A-E16F-8413DC590E74}"/>
              </a:ext>
            </a:extLst>
          </p:cNvPr>
          <p:cNvPicPr>
            <a:picLocks noChangeAspect="1"/>
          </p:cNvPicPr>
          <p:nvPr/>
        </p:nvPicPr>
        <p:blipFill>
          <a:blip r:embed="rId4"/>
          <a:stretch>
            <a:fillRect/>
          </a:stretch>
        </p:blipFill>
        <p:spPr>
          <a:xfrm>
            <a:off x="6780360" y="1449272"/>
            <a:ext cx="5411640" cy="4165774"/>
          </a:xfrm>
          <a:prstGeom prst="rect">
            <a:avLst/>
          </a:prstGeom>
        </p:spPr>
      </p:pic>
      <p:sp>
        <p:nvSpPr>
          <p:cNvPr id="17410" name="TextBox 8"/>
          <p:cNvSpPr txBox="1">
            <a:spLocks noChangeArrowheads="1"/>
          </p:cNvSpPr>
          <p:nvPr/>
        </p:nvSpPr>
        <p:spPr bwMode="auto">
          <a:xfrm>
            <a:off x="465826" y="994432"/>
            <a:ext cx="8095468" cy="5632311"/>
          </a:xfrm>
          <a:prstGeom prst="rect">
            <a:avLst/>
          </a:prstGeom>
          <a:noFill/>
          <a:ln w="9525">
            <a:noFill/>
            <a:miter lim="800000"/>
            <a:headEnd/>
            <a:tailEnd/>
          </a:ln>
        </p:spPr>
        <p:txBody>
          <a:bodyPr wrap="square">
            <a:spAutoFit/>
          </a:bodyPr>
          <a:lstStyle/>
          <a:p>
            <a:pPr marL="342900" indent="-342900" algn="just">
              <a:buFont typeface="Arial" panose="020B0604020202020204" pitchFamily="34" charset="0"/>
              <a:buChar char="•"/>
            </a:pPr>
            <a:r>
              <a:rPr lang="en-US" b="1" dirty="0">
                <a:latin typeface="Arial" pitchFamily="34" charset="0"/>
                <a:cs typeface="Arial" pitchFamily="34" charset="0"/>
              </a:rPr>
              <a:t>Programming Language: </a:t>
            </a:r>
          </a:p>
          <a:p>
            <a:pPr marL="342900" indent="-342900" algn="just">
              <a:buFont typeface="Arial" panose="020B0604020202020204" pitchFamily="34" charset="0"/>
              <a:buChar char="•"/>
            </a:pPr>
            <a:r>
              <a:rPr lang="en-US" dirty="0">
                <a:latin typeface="Arial" pitchFamily="34" charset="0"/>
                <a:cs typeface="Arial" pitchFamily="34" charset="0"/>
              </a:rPr>
              <a:t>Python, HTML/CSS/JavaScript</a:t>
            </a:r>
          </a:p>
          <a:p>
            <a:pPr marL="342900" indent="-342900" algn="just">
              <a:buFont typeface="Arial" panose="020B0604020202020204" pitchFamily="34" charset="0"/>
              <a:buChar char="•"/>
            </a:pPr>
            <a:r>
              <a:rPr lang="en-US" b="1" dirty="0">
                <a:latin typeface="Arial" pitchFamily="34" charset="0"/>
                <a:cs typeface="Arial" pitchFamily="34" charset="0"/>
              </a:rPr>
              <a:t>Frameworks &amp; Libraries:</a:t>
            </a:r>
          </a:p>
          <a:p>
            <a:pPr marL="342900" indent="-342900" algn="just">
              <a:buFont typeface="Arial" panose="020B0604020202020204" pitchFamily="34" charset="0"/>
              <a:buChar char="•"/>
            </a:pPr>
            <a:r>
              <a:rPr lang="en-US" dirty="0">
                <a:latin typeface="Arial" pitchFamily="34" charset="0"/>
                <a:cs typeface="Arial" pitchFamily="34" charset="0"/>
              </a:rPr>
              <a:t>Face Recognition / Computer Vision</a:t>
            </a:r>
          </a:p>
          <a:p>
            <a:pPr marL="342900" indent="-342900" algn="just">
              <a:buFont typeface="Arial" panose="020B0604020202020204" pitchFamily="34" charset="0"/>
              <a:buChar char="•"/>
            </a:pPr>
            <a:r>
              <a:rPr lang="en-US" dirty="0">
                <a:latin typeface="Arial" pitchFamily="34" charset="0"/>
                <a:cs typeface="Arial" pitchFamily="34" charset="0"/>
              </a:rPr>
              <a:t>OpenCV </a:t>
            </a:r>
          </a:p>
          <a:p>
            <a:pPr marL="342900" indent="-342900" algn="just">
              <a:buFont typeface="Arial" panose="020B0604020202020204" pitchFamily="34" charset="0"/>
              <a:buChar char="•"/>
            </a:pPr>
            <a:r>
              <a:rPr lang="en-US" dirty="0" err="1">
                <a:latin typeface="Arial" pitchFamily="34" charset="0"/>
                <a:cs typeface="Arial" pitchFamily="34" charset="0"/>
              </a:rPr>
              <a:t>face_recognition</a:t>
            </a:r>
            <a:r>
              <a:rPr lang="en-US" dirty="0">
                <a:latin typeface="Arial" pitchFamily="34" charset="0"/>
                <a:cs typeface="Arial" pitchFamily="34" charset="0"/>
              </a:rPr>
              <a:t> (</a:t>
            </a:r>
            <a:r>
              <a:rPr lang="en-US" dirty="0" err="1">
                <a:latin typeface="Arial" pitchFamily="34" charset="0"/>
                <a:cs typeface="Arial" pitchFamily="34" charset="0"/>
              </a:rPr>
              <a:t>dlib</a:t>
            </a:r>
            <a:r>
              <a:rPr lang="en-US" dirty="0">
                <a:latin typeface="Arial" pitchFamily="34" charset="0"/>
                <a:cs typeface="Arial" pitchFamily="34" charset="0"/>
              </a:rPr>
              <a:t> + NumPy)</a:t>
            </a:r>
          </a:p>
          <a:p>
            <a:pPr marL="342900" indent="-342900" algn="just">
              <a:buFont typeface="Arial" panose="020B0604020202020204" pitchFamily="34" charset="0"/>
              <a:buChar char="•"/>
            </a:pPr>
            <a:r>
              <a:rPr lang="en-US" dirty="0">
                <a:latin typeface="Arial" pitchFamily="34" charset="0"/>
                <a:cs typeface="Arial" pitchFamily="34" charset="0"/>
              </a:rPr>
              <a:t>Pandas, CSV</a:t>
            </a:r>
          </a:p>
          <a:p>
            <a:pPr marL="342900" indent="-342900" algn="just">
              <a:buFont typeface="Arial" panose="020B0604020202020204" pitchFamily="34" charset="0"/>
              <a:buChar char="•"/>
            </a:pPr>
            <a:r>
              <a:rPr lang="en-US" dirty="0">
                <a:latin typeface="Arial" pitchFamily="34" charset="0"/>
                <a:cs typeface="Arial" pitchFamily="34" charset="0"/>
              </a:rPr>
              <a:t>Tabulate </a:t>
            </a:r>
          </a:p>
          <a:p>
            <a:pPr marL="342900" indent="-342900" algn="just">
              <a:buFont typeface="Arial" panose="020B0604020202020204" pitchFamily="34" charset="0"/>
              <a:buChar char="•"/>
            </a:pPr>
            <a:r>
              <a:rPr lang="en-US" b="1" dirty="0">
                <a:latin typeface="Arial" pitchFamily="34" charset="0"/>
                <a:cs typeface="Arial" pitchFamily="34" charset="0"/>
              </a:rPr>
              <a:t>Backend &amp; Web Framework:</a:t>
            </a:r>
          </a:p>
          <a:p>
            <a:pPr marL="342900" indent="-342900" algn="just">
              <a:buFont typeface="Arial" panose="020B0604020202020204" pitchFamily="34" charset="0"/>
              <a:buChar char="•"/>
            </a:pPr>
            <a:r>
              <a:rPr lang="en-US" dirty="0" err="1">
                <a:latin typeface="Arial" pitchFamily="34" charset="0"/>
                <a:cs typeface="Arial" pitchFamily="34" charset="0"/>
              </a:rPr>
              <a:t>FastAPI</a:t>
            </a:r>
            <a:r>
              <a:rPr lang="en-US" dirty="0">
                <a:latin typeface="Arial" pitchFamily="34" charset="0"/>
                <a:cs typeface="Arial" pitchFamily="34" charset="0"/>
              </a:rPr>
              <a:t> </a:t>
            </a:r>
          </a:p>
          <a:p>
            <a:pPr marL="342900" indent="-342900" algn="just">
              <a:buFont typeface="Arial" panose="020B0604020202020204" pitchFamily="34" charset="0"/>
              <a:buChar char="•"/>
            </a:pPr>
            <a:r>
              <a:rPr lang="en-US" dirty="0" err="1">
                <a:latin typeface="Arial" pitchFamily="34" charset="0"/>
                <a:cs typeface="Arial" pitchFamily="34" charset="0"/>
              </a:rPr>
              <a:t>uvicorn</a:t>
            </a:r>
            <a:endParaRPr lang="en-US" dirty="0">
              <a:latin typeface="Arial" pitchFamily="34" charset="0"/>
              <a:cs typeface="Arial" pitchFamily="34" charset="0"/>
            </a:endParaRPr>
          </a:p>
          <a:p>
            <a:pPr marL="342900" indent="-342900" algn="just">
              <a:buFont typeface="Arial" panose="020B0604020202020204" pitchFamily="34" charset="0"/>
              <a:buChar char="•"/>
            </a:pPr>
            <a:r>
              <a:rPr lang="en-US" b="1" dirty="0">
                <a:latin typeface="Arial" pitchFamily="34" charset="0"/>
                <a:cs typeface="Arial" pitchFamily="34" charset="0"/>
              </a:rPr>
              <a:t>Development Environment:</a:t>
            </a:r>
          </a:p>
          <a:p>
            <a:pPr marL="342900" indent="-342900" algn="just">
              <a:buFont typeface="Arial" panose="020B0604020202020204" pitchFamily="34" charset="0"/>
              <a:buChar char="•"/>
            </a:pPr>
            <a:r>
              <a:rPr lang="pt-BR" dirty="0">
                <a:latin typeface="Arial" pitchFamily="34" charset="0"/>
                <a:cs typeface="Arial" pitchFamily="34" charset="0"/>
              </a:rPr>
              <a:t>Visual Studio Code (VS Code) – Code editor &amp; execution</a:t>
            </a:r>
          </a:p>
          <a:p>
            <a:pPr marL="342900" indent="-342900" algn="just">
              <a:buFont typeface="Arial" panose="020B0604020202020204" pitchFamily="34" charset="0"/>
              <a:buChar char="•"/>
            </a:pPr>
            <a:r>
              <a:rPr lang="en-US" b="1" dirty="0">
                <a:latin typeface="Arial" pitchFamily="34" charset="0"/>
                <a:cs typeface="Arial" pitchFamily="34" charset="0"/>
              </a:rPr>
              <a:t>Storage:</a:t>
            </a:r>
          </a:p>
          <a:p>
            <a:pPr marL="342900" indent="-342900" algn="just">
              <a:buFont typeface="Arial" panose="020B0604020202020204" pitchFamily="34" charset="0"/>
              <a:buChar char="•"/>
            </a:pPr>
            <a:r>
              <a:rPr lang="en-US" dirty="0">
                <a:latin typeface="Arial" pitchFamily="34" charset="0"/>
                <a:cs typeface="Arial" pitchFamily="34" charset="0"/>
              </a:rPr>
              <a:t>Local File System (Dataset images)</a:t>
            </a:r>
          </a:p>
          <a:p>
            <a:pPr marL="342900" indent="-342900" algn="just">
              <a:buFont typeface="Arial" panose="020B0604020202020204" pitchFamily="34" charset="0"/>
              <a:buChar char="•"/>
            </a:pPr>
            <a:r>
              <a:rPr lang="en-US" dirty="0">
                <a:latin typeface="Arial" pitchFamily="34" charset="0"/>
                <a:cs typeface="Arial" pitchFamily="34" charset="0"/>
              </a:rPr>
              <a:t>CSV Attendance Logs</a:t>
            </a:r>
          </a:p>
          <a:p>
            <a:pPr marL="342900" indent="-342900" algn="just">
              <a:buFont typeface="Arial" panose="020B0604020202020204" pitchFamily="34" charset="0"/>
              <a:buChar char="•"/>
            </a:pPr>
            <a:r>
              <a:rPr lang="en-US" b="1" dirty="0">
                <a:latin typeface="Arial" pitchFamily="34" charset="0"/>
                <a:cs typeface="Arial" pitchFamily="34" charset="0"/>
              </a:rPr>
              <a:t>Hardware:</a:t>
            </a:r>
          </a:p>
          <a:p>
            <a:pPr marL="342900" indent="-342900" algn="just">
              <a:buFont typeface="Arial" panose="020B0604020202020204" pitchFamily="34" charset="0"/>
              <a:buChar char="•"/>
            </a:pPr>
            <a:r>
              <a:rPr lang="en-US" dirty="0">
                <a:latin typeface="Arial" pitchFamily="34" charset="0"/>
                <a:cs typeface="Arial" pitchFamily="34" charset="0"/>
              </a:rPr>
              <a:t>Laptop/PC with Webcam (for prototype testing)</a:t>
            </a:r>
          </a:p>
          <a:p>
            <a:pPr marL="342900" indent="-342900" algn="just">
              <a:buFont typeface="Arial" panose="020B0604020202020204" pitchFamily="34" charset="0"/>
              <a:buChar char="•"/>
            </a:pPr>
            <a:r>
              <a:rPr lang="en-US" dirty="0">
                <a:latin typeface="Arial" pitchFamily="34" charset="0"/>
                <a:cs typeface="Arial" pitchFamily="34" charset="0"/>
              </a:rPr>
              <a:t>Central IP Camera / CCTV(for real deployment in classrooms)</a:t>
            </a:r>
          </a:p>
          <a:p>
            <a:pPr marL="342900" indent="-342900" algn="just">
              <a:buFont typeface="Arial" panose="020B0604020202020204" pitchFamily="34" charset="0"/>
              <a:buChar char="•"/>
            </a:pPr>
            <a:endParaRPr lang="en-US" b="1" dirty="0">
              <a:latin typeface="Arial" pitchFamily="34" charset="0"/>
              <a:cs typeface="Arial"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FEASIBILITY AND VIABILITY</a:t>
            </a:r>
          </a:p>
        </p:txBody>
      </p:sp>
      <p:sp>
        <p:nvSpPr>
          <p:cNvPr id="17410" name="TextBox 8"/>
          <p:cNvSpPr txBox="1">
            <a:spLocks noChangeArrowheads="1"/>
          </p:cNvSpPr>
          <p:nvPr/>
        </p:nvSpPr>
        <p:spPr bwMode="auto">
          <a:xfrm>
            <a:off x="537713" y="1050489"/>
            <a:ext cx="11254596" cy="5355312"/>
          </a:xfrm>
          <a:prstGeom prst="rect">
            <a:avLst/>
          </a:prstGeom>
          <a:noFill/>
          <a:ln w="9525">
            <a:noFill/>
            <a:miter lim="800000"/>
            <a:headEnd/>
            <a:tailEnd/>
          </a:ln>
        </p:spPr>
        <p:txBody>
          <a:bodyPr wrap="square">
            <a:spAutoFit/>
          </a:bodyPr>
          <a:lstStyle/>
          <a:p>
            <a:pPr marL="342900" lvl="0" indent="-342900" algn="just">
              <a:buFont typeface="Arial" panose="020B0604020202020204" pitchFamily="34" charset="0"/>
              <a:buChar char="•"/>
              <a:defRPr/>
            </a:pPr>
            <a:r>
              <a:rPr lang="en-US" b="1" dirty="0">
                <a:solidFill>
                  <a:prstClr val="black"/>
                </a:solidFill>
                <a:latin typeface="Arial" panose="020B0604020202020204" pitchFamily="34" charset="0"/>
                <a:cs typeface="Arial" pitchFamily="34" charset="0"/>
              </a:rPr>
              <a:t>Analysis of the feasibility of the idea</a:t>
            </a:r>
          </a:p>
          <a:p>
            <a:pPr marL="342900" lvl="0" indent="-342900" algn="just">
              <a:buFont typeface="Arial" panose="020B0604020202020204" pitchFamily="34" charset="0"/>
              <a:buChar char="•"/>
              <a:defRPr/>
            </a:pPr>
            <a:r>
              <a:rPr lang="en-US" dirty="0">
                <a:solidFill>
                  <a:prstClr val="black"/>
                </a:solidFill>
                <a:latin typeface="Arial" panose="020B0604020202020204" pitchFamily="34" charset="0"/>
                <a:cs typeface="Arial" pitchFamily="34" charset="0"/>
              </a:rPr>
              <a:t>The Face Scanning Attendance System offers real-time, automated attendance using facial recognition, saving time and reducing faculty workload. Though it needs quality hardware and setup, it ensures long-term efficiency. Legal and ethical concerns are addressed through data privacy measures and consent. With awareness efforts, it can modernize attendance in schools.</a:t>
            </a:r>
          </a:p>
          <a:p>
            <a:pPr marL="342900" lvl="0" indent="-342900" algn="just">
              <a:buFont typeface="Arial" panose="020B0604020202020204" pitchFamily="34" charset="0"/>
              <a:buChar char="•"/>
              <a:defRPr/>
            </a:pPr>
            <a:endParaRPr lang="en-US" dirty="0">
              <a:solidFill>
                <a:prstClr val="black"/>
              </a:solidFill>
              <a:latin typeface="Arial" panose="020B0604020202020204" pitchFamily="34" charset="0"/>
              <a:cs typeface="Arial" pitchFamily="34" charset="0"/>
            </a:endParaRPr>
          </a:p>
          <a:p>
            <a:pPr marL="342900" lvl="0" indent="-342900" algn="just">
              <a:buFont typeface="Arial" panose="020B0604020202020204" pitchFamily="34" charset="0"/>
              <a:buChar char="•"/>
              <a:defRPr/>
            </a:pPr>
            <a:r>
              <a:rPr lang="en-IN" b="1" dirty="0">
                <a:latin typeface="Arial" panose="020B0604020202020204" pitchFamily="34" charset="0"/>
                <a:cs typeface="Arial" panose="020B0604020202020204" pitchFamily="34" charset="0"/>
              </a:rPr>
              <a:t>Challenges &amp; Risks</a:t>
            </a:r>
          </a:p>
          <a:p>
            <a:pPr marL="342900" lvl="0" indent="-342900" algn="just">
              <a:buFont typeface="Arial" panose="020B0604020202020204" pitchFamily="34" charset="0"/>
              <a:buChar char="•"/>
              <a:defRPr/>
            </a:pPr>
            <a:r>
              <a:rPr lang="en-US" dirty="0">
                <a:latin typeface="Arial" panose="020B0604020202020204" pitchFamily="34" charset="0"/>
                <a:cs typeface="Arial" panose="020B0604020202020204" pitchFamily="34" charset="0"/>
              </a:rPr>
              <a:t>Data privacy of facial images. </a:t>
            </a:r>
          </a:p>
          <a:p>
            <a:pPr marL="342900" lvl="0" indent="-342900" algn="just">
              <a:buFont typeface="Arial" panose="020B0604020202020204" pitchFamily="34" charset="0"/>
              <a:buChar char="•"/>
              <a:defRPr/>
            </a:pPr>
            <a:r>
              <a:rPr lang="en-US" dirty="0">
                <a:latin typeface="Arial" panose="020B0604020202020204" pitchFamily="34" charset="0"/>
                <a:cs typeface="Arial" panose="020B0604020202020204" pitchFamily="34" charset="0"/>
              </a:rPr>
              <a:t>Accuracy issues (lighting, masks, camera quality). </a:t>
            </a:r>
          </a:p>
          <a:p>
            <a:pPr marL="342900" lvl="0" indent="-342900" algn="just">
              <a:buFont typeface="Arial" panose="020B0604020202020204" pitchFamily="34" charset="0"/>
              <a:buChar char="•"/>
              <a:defRPr/>
            </a:pPr>
            <a:r>
              <a:rPr lang="en-US" dirty="0">
                <a:latin typeface="Arial" panose="020B0604020202020204" pitchFamily="34" charset="0"/>
                <a:cs typeface="Arial" panose="020B0604020202020204" pitchFamily="34" charset="0"/>
              </a:rPr>
              <a:t>Infrastructure cost (cameras, servers). </a:t>
            </a:r>
          </a:p>
          <a:p>
            <a:pPr marL="342900" lvl="0" indent="-342900" algn="just">
              <a:buFont typeface="Arial" panose="020B0604020202020204" pitchFamily="34" charset="0"/>
              <a:buChar char="•"/>
              <a:defRPr/>
            </a:pPr>
            <a:r>
              <a:rPr lang="en-US" dirty="0">
                <a:latin typeface="Arial" panose="020B0604020202020204" pitchFamily="34" charset="0"/>
                <a:cs typeface="Arial" panose="020B0604020202020204" pitchFamily="34" charset="0"/>
              </a:rPr>
              <a:t>Adoption resistance from students/faculty.</a:t>
            </a:r>
          </a:p>
          <a:p>
            <a:pPr marL="342900" lvl="0" indent="-342900" algn="just">
              <a:buFont typeface="Arial" panose="020B0604020202020204" pitchFamily="34" charset="0"/>
              <a:buChar char="•"/>
              <a:defRPr/>
            </a:pPr>
            <a:endParaRPr lang="en-IN" dirty="0">
              <a:latin typeface="Arial" panose="020B0604020202020204" pitchFamily="34" charset="0"/>
              <a:cs typeface="Arial" panose="020B0604020202020204" pitchFamily="34" charset="0"/>
            </a:endParaRPr>
          </a:p>
          <a:p>
            <a:pPr marL="342900" marR="0" lvl="0" indent="-342900" algn="just" defTabSz="4572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b="1" i="0" u="none" strike="noStrike" kern="1200" cap="none" spc="0" normalizeH="0" baseline="0" noProof="0" dirty="0">
                <a:ln>
                  <a:noFill/>
                </a:ln>
                <a:solidFill>
                  <a:prstClr val="black"/>
                </a:solidFill>
                <a:effectLst/>
                <a:uLnTx/>
                <a:uFillTx/>
                <a:latin typeface="Arial" panose="020B0604020202020204" pitchFamily="34" charset="0"/>
                <a:cs typeface="Arial" pitchFamily="34" charset="0"/>
              </a:rPr>
              <a:t>Strategies</a:t>
            </a:r>
            <a:r>
              <a:rPr kumimoji="0" lang="en-US" b="1" i="0" u="none" strike="noStrike" kern="1200" cap="none" spc="0" normalizeH="0" noProof="0" dirty="0">
                <a:ln>
                  <a:noFill/>
                </a:ln>
                <a:solidFill>
                  <a:prstClr val="black"/>
                </a:solidFill>
                <a:effectLst/>
                <a:uLnTx/>
                <a:uFillTx/>
                <a:latin typeface="Arial" panose="020B0604020202020204" pitchFamily="34" charset="0"/>
                <a:cs typeface="Arial" pitchFamily="34" charset="0"/>
              </a:rPr>
              <a:t> for overcoming these challenges</a:t>
            </a:r>
          </a:p>
          <a:p>
            <a:pPr marL="342900" lvl="0" indent="-342900" algn="just">
              <a:buFont typeface="Arial" panose="020B0604020202020204" pitchFamily="34" charset="0"/>
              <a:buChar char="•"/>
              <a:defRPr/>
            </a:pPr>
            <a:r>
              <a:rPr lang="en-US" dirty="0">
                <a:latin typeface="Arial" panose="020B0604020202020204" pitchFamily="34" charset="0"/>
                <a:cs typeface="Arial" panose="020B0604020202020204" pitchFamily="34" charset="0"/>
              </a:rPr>
              <a:t>Take student consent, ensure data is only for attendance, and secure it with encryption, strong passwords, and limited access.</a:t>
            </a:r>
          </a:p>
          <a:p>
            <a:pPr marL="342900" lvl="0" indent="-342900" algn="just">
              <a:buFont typeface="Arial" panose="020B0604020202020204" pitchFamily="34" charset="0"/>
              <a:buChar char="•"/>
              <a:defRPr/>
            </a:pPr>
            <a:r>
              <a:rPr lang="en-US" dirty="0">
                <a:latin typeface="Arial" panose="020B0604020202020204" pitchFamily="34" charset="0"/>
                <a:cs typeface="Arial" panose="020B0604020202020204" pitchFamily="34" charset="0"/>
              </a:rPr>
              <a:t>Use high-quality cameras and advanced face recognition software; ask students to keep faces clear, with manual checks for unusual cases.</a:t>
            </a:r>
          </a:p>
          <a:p>
            <a:pPr marL="342900" lvl="0" indent="-342900" algn="just">
              <a:buFont typeface="Arial" panose="020B0604020202020204" pitchFamily="34" charset="0"/>
              <a:buChar char="•"/>
              <a:defRPr/>
            </a:pPr>
            <a:r>
              <a:rPr lang="en-US" dirty="0">
                <a:latin typeface="Arial" panose="020B0604020202020204" pitchFamily="34" charset="0"/>
                <a:cs typeface="Arial" panose="020B0604020202020204" pitchFamily="34" charset="0"/>
              </a:rPr>
              <a:t>Use hybrid cloud + edge devices, start with pilot rollout.</a:t>
            </a:r>
          </a:p>
          <a:p>
            <a:pPr marL="342900" lvl="0" indent="-342900" algn="just">
              <a:buFont typeface="Arial" panose="020B0604020202020204" pitchFamily="34" charset="0"/>
              <a:buChar char="•"/>
              <a:defRPr/>
            </a:pPr>
            <a:r>
              <a:rPr lang="en-US" dirty="0">
                <a:latin typeface="Arial" panose="020B0604020202020204" pitchFamily="34" charset="0"/>
                <a:cs typeface="Arial" panose="020B0604020202020204" pitchFamily="34" charset="0"/>
              </a:rPr>
              <a:t>Awareness sessions, simple &amp; user-friendly interface.</a:t>
            </a:r>
            <a:endParaRPr kumimoji="0" lang="en-US" i="0" u="none" strike="noStrike" kern="1200" cap="none" spc="0" normalizeH="0" baseline="0" noProof="0" dirty="0">
              <a:ln>
                <a:noFill/>
              </a:ln>
              <a:solidFill>
                <a:prstClr val="black"/>
              </a:solidFill>
              <a:effectLst/>
              <a:uLnTx/>
              <a:uFillTx/>
              <a:latin typeface="Arial" panose="020B0604020202020204" pitchFamily="34" charset="0"/>
              <a:cs typeface="Arial" pitchFamily="34" charset="0"/>
            </a:endParaRP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335125"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t>paradox</a:t>
            </a:r>
            <a:endParaRPr lang="en-IN" dirty="0"/>
          </a:p>
        </p:txBody>
      </p:sp>
      <p:pic>
        <p:nvPicPr>
          <p:cNvPr id="9" name="Picture 2" descr="https://www.sih.gov.in/img1/SIH-Logo.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41366" y="57097"/>
            <a:ext cx="2209120" cy="11228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533879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IMPACT AND BENEFITS</a:t>
            </a:r>
          </a:p>
        </p:txBody>
      </p:sp>
      <p:sp>
        <p:nvSpPr>
          <p:cNvPr id="17410" name="TextBox 8"/>
          <p:cNvSpPr txBox="1">
            <a:spLocks noChangeArrowheads="1"/>
          </p:cNvSpPr>
          <p:nvPr/>
        </p:nvSpPr>
        <p:spPr bwMode="auto">
          <a:xfrm>
            <a:off x="774700" y="1700876"/>
            <a:ext cx="10807700" cy="3728649"/>
          </a:xfrm>
          <a:prstGeom prst="rect">
            <a:avLst/>
          </a:prstGeom>
          <a:noFill/>
          <a:ln w="9525">
            <a:noFill/>
            <a:miter lim="800000"/>
            <a:headEnd/>
            <a:tailEnd/>
          </a:ln>
        </p:spPr>
        <p:txBody>
          <a:bodyPr wrap="square">
            <a:spAutoFit/>
          </a:bodyPr>
          <a:lstStyle/>
          <a:p>
            <a:pPr marL="457200" indent="-457200">
              <a:lnSpc>
                <a:spcPct val="150000"/>
              </a:lnSpc>
              <a:buFont typeface="Arial" panose="020B0604020202020204" pitchFamily="34" charset="0"/>
              <a:buChar char="•"/>
            </a:pPr>
            <a:r>
              <a:rPr lang="en-US" sz="2000" b="1" dirty="0">
                <a:latin typeface="Arial" panose="020B0604020202020204" pitchFamily="34" charset="0"/>
                <a:cs typeface="Arial" panose="020B0604020202020204" pitchFamily="34" charset="0"/>
              </a:rPr>
              <a:t>Impact on Target Audience</a:t>
            </a:r>
            <a:endParaRPr lang="en-US" sz="2000" dirty="0">
              <a:latin typeface="Arial" panose="020B0604020202020204" pitchFamily="34" charset="0"/>
              <a:cs typeface="Arial" panose="020B0604020202020204" pitchFamily="34" charset="0"/>
            </a:endParaRPr>
          </a:p>
          <a:p>
            <a:pPr>
              <a:lnSpc>
                <a:spcPct val="150000"/>
              </a:lnSpc>
            </a:pPr>
            <a:r>
              <a:rPr lang="en-US" sz="2000" dirty="0">
                <a:latin typeface="Arial" panose="020B0604020202020204" pitchFamily="34" charset="0"/>
                <a:cs typeface="Arial" panose="020B0604020202020204" pitchFamily="34" charset="0"/>
              </a:rPr>
              <a:t>Students – Fair, transparent, error-free records.</a:t>
            </a:r>
          </a:p>
          <a:p>
            <a:pPr>
              <a:lnSpc>
                <a:spcPct val="150000"/>
              </a:lnSpc>
            </a:pPr>
            <a:r>
              <a:rPr lang="en-US" sz="2000" dirty="0">
                <a:latin typeface="Arial" panose="020B0604020202020204" pitchFamily="34" charset="0"/>
                <a:cs typeface="Arial" panose="020B0604020202020204" pitchFamily="34" charset="0"/>
              </a:rPr>
              <a:t>Faculty – Saves lecture time, effortless tracking.</a:t>
            </a:r>
          </a:p>
          <a:p>
            <a:pPr>
              <a:lnSpc>
                <a:spcPct val="150000"/>
              </a:lnSpc>
            </a:pPr>
            <a:r>
              <a:rPr lang="en-US" sz="2000" dirty="0">
                <a:latin typeface="Arial" panose="020B0604020202020204" pitchFamily="34" charset="0"/>
                <a:cs typeface="Arial" panose="020B0604020202020204" pitchFamily="34" charset="0"/>
              </a:rPr>
              <a:t>Institutions – Real-time insights &amp; smart campus image.</a:t>
            </a:r>
          </a:p>
          <a:p>
            <a:pPr marL="457200" indent="-457200">
              <a:lnSpc>
                <a:spcPct val="150000"/>
              </a:lnSpc>
              <a:buFont typeface="Arial" panose="020B0604020202020204" pitchFamily="34" charset="0"/>
              <a:buChar char="•"/>
            </a:pPr>
            <a:r>
              <a:rPr lang="en-IN" sz="2000" b="1" dirty="0">
                <a:latin typeface="Arial" panose="020B0604020202020204" pitchFamily="34" charset="0"/>
                <a:cs typeface="Arial" panose="020B0604020202020204" pitchFamily="34" charset="0"/>
              </a:rPr>
              <a:t>Benefits</a:t>
            </a:r>
            <a:endParaRPr lang="en-IN" sz="2000" dirty="0">
              <a:latin typeface="Arial" panose="020B0604020202020204" pitchFamily="34" charset="0"/>
              <a:cs typeface="Arial" panose="020B0604020202020204" pitchFamily="34" charset="0"/>
            </a:endParaRPr>
          </a:p>
          <a:p>
            <a:pPr>
              <a:lnSpc>
                <a:spcPct val="150000"/>
              </a:lnSpc>
            </a:pPr>
            <a:r>
              <a:rPr lang="en-IN" sz="2000" b="1" dirty="0">
                <a:latin typeface="Arial" panose="020B0604020202020204" pitchFamily="34" charset="0"/>
                <a:cs typeface="Arial" panose="020B0604020202020204" pitchFamily="34" charset="0"/>
              </a:rPr>
              <a:t>Social</a:t>
            </a:r>
            <a:r>
              <a:rPr lang="en-IN" sz="2000" dirty="0">
                <a:latin typeface="Arial" panose="020B0604020202020204" pitchFamily="34" charset="0"/>
                <a:cs typeface="Arial" panose="020B0604020202020204" pitchFamily="34" charset="0"/>
              </a:rPr>
              <a:t>: Eliminates proxy attendance, improves accountability, early risk detection.</a:t>
            </a:r>
          </a:p>
          <a:p>
            <a:pPr>
              <a:lnSpc>
                <a:spcPct val="150000"/>
              </a:lnSpc>
            </a:pPr>
            <a:r>
              <a:rPr lang="en-IN" sz="2000" b="1" dirty="0">
                <a:latin typeface="Arial" panose="020B0604020202020204" pitchFamily="34" charset="0"/>
                <a:cs typeface="Arial" panose="020B0604020202020204" pitchFamily="34" charset="0"/>
              </a:rPr>
              <a:t>Economic</a:t>
            </a:r>
            <a:r>
              <a:rPr lang="en-IN" sz="2000" dirty="0">
                <a:latin typeface="Arial" panose="020B0604020202020204" pitchFamily="34" charset="0"/>
                <a:cs typeface="Arial" panose="020B0604020202020204" pitchFamily="34" charset="0"/>
              </a:rPr>
              <a:t>: Cuts admin costs, reduces manual effort, scalable &amp; cost-effective.</a:t>
            </a:r>
          </a:p>
          <a:p>
            <a:pPr>
              <a:lnSpc>
                <a:spcPct val="150000"/>
              </a:lnSpc>
            </a:pPr>
            <a:r>
              <a:rPr lang="en-IN" sz="2000" b="1" dirty="0">
                <a:latin typeface="Arial" panose="020B0604020202020204" pitchFamily="34" charset="0"/>
                <a:cs typeface="Arial" panose="020B0604020202020204" pitchFamily="34" charset="0"/>
              </a:rPr>
              <a:t>Environmental</a:t>
            </a:r>
            <a:r>
              <a:rPr lang="en-IN" sz="2000" dirty="0">
                <a:latin typeface="Arial" panose="020B0604020202020204" pitchFamily="34" charset="0"/>
                <a:cs typeface="Arial" panose="020B0604020202020204" pitchFamily="34" charset="0"/>
              </a:rPr>
              <a:t>: Paperless system, supports sustainable digital transformation.</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343752"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t>paradox</a:t>
            </a:r>
            <a:endParaRPr lang="en-IN" dirty="0"/>
          </a:p>
        </p:txBody>
      </p:sp>
      <p:pic>
        <p:nvPicPr>
          <p:cNvPr id="9" name="Picture 2" descr="https://www.sih.gov.in/img1/SIH-Logo.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41366" y="57097"/>
            <a:ext cx="2209120" cy="11228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971441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RESEARCH  AND REFERENCES</a:t>
            </a:r>
          </a:p>
        </p:txBody>
      </p:sp>
      <p:sp>
        <p:nvSpPr>
          <p:cNvPr id="17410" name="TextBox 8"/>
          <p:cNvSpPr txBox="1">
            <a:spLocks noChangeArrowheads="1"/>
          </p:cNvSpPr>
          <p:nvPr/>
        </p:nvSpPr>
        <p:spPr bwMode="auto">
          <a:xfrm>
            <a:off x="869965" y="1234786"/>
            <a:ext cx="10760470" cy="4438395"/>
          </a:xfrm>
          <a:prstGeom prst="rect">
            <a:avLst/>
          </a:prstGeom>
          <a:noFill/>
          <a:ln w="9525">
            <a:noFill/>
            <a:miter lim="800000"/>
            <a:headEnd/>
            <a:tailEnd/>
          </a:ln>
        </p:spPr>
        <p:txBody>
          <a:bodyPr wrap="square">
            <a:spAutoFit/>
          </a:bodyPr>
          <a:lstStyle/>
          <a:p>
            <a:pPr marL="342900" lvl="0" indent="-342900" algn="just">
              <a:lnSpc>
                <a:spcPct val="200000"/>
              </a:lnSpc>
              <a:buFont typeface="Arial" panose="020B0604020202020204" pitchFamily="34" charset="0"/>
              <a:buChar char="•"/>
              <a:defRPr/>
            </a:pPr>
            <a:r>
              <a:rPr lang="en-US" dirty="0">
                <a:solidFill>
                  <a:prstClr val="black"/>
                </a:solidFill>
                <a:latin typeface="Arial" pitchFamily="34" charset="0"/>
                <a:cs typeface="Arial" pitchFamily="34" charset="0"/>
              </a:rPr>
              <a:t>The ideation and problem-solving for the Face Scanning Attendance System originated entirely from our team—we identified the challenges with traditional attendance methods and developed an innovative solution using facial recognition technology. The concept, including its benefits, feasibility, and potential impact, was thoroughly planned and structured by us. However, to move the idea from concept to implementation and understand how to bring it into a practical, working system, we sought external guidance. This support helped us better understand the technical requirements, tools, and processes needed to turn our idea into reality. While the core innovation is our own, the assistance we received played a key role in shaping the execution pathway.</a:t>
            </a:r>
            <a:endParaRPr kumimoji="0" lang="en-US" b="0" i="0" u="none" strike="noStrike" kern="1200" cap="none" spc="0" normalizeH="0" baseline="0" noProof="0" dirty="0">
              <a:ln>
                <a:noFill/>
              </a:ln>
              <a:solidFill>
                <a:prstClr val="black"/>
              </a:solidFill>
              <a:effectLst/>
              <a:uLnTx/>
              <a:uFillTx/>
              <a:latin typeface="Arial" pitchFamily="34" charset="0"/>
              <a:ea typeface="ＭＳ Ｐゴシック" pitchFamily="1" charset="-128"/>
              <a:cs typeface="Arial" pitchFamily="34" charset="0"/>
            </a:endParaRP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9" name="Oval 8"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335125"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t>paradox</a:t>
            </a:r>
            <a:endParaRPr lang="en-IN" dirty="0"/>
          </a:p>
        </p:txBody>
      </p:sp>
      <p:pic>
        <p:nvPicPr>
          <p:cNvPr id="11" name="Picture 2" descr="https://www.sih.gov.in/img1/SIH-Logo.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41366" y="57097"/>
            <a:ext cx="2209120" cy="11228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167886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7799</TotalTime>
  <Words>672</Words>
  <Application>Microsoft Office PowerPoint</Application>
  <PresentationFormat>Widescreen</PresentationFormat>
  <Paragraphs>93</Paragraphs>
  <Slides>6</Slides>
  <Notes>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vt:i4>
      </vt:variant>
    </vt:vector>
  </HeadingPairs>
  <TitlesOfParts>
    <vt:vector size="13" baseType="lpstr">
      <vt:lpstr>ＭＳ Ｐゴシック</vt:lpstr>
      <vt:lpstr>Arial</vt:lpstr>
      <vt:lpstr>Calibri</vt:lpstr>
      <vt:lpstr>Garamond</vt:lpstr>
      <vt:lpstr>Times New Roman</vt:lpstr>
      <vt:lpstr>TradeGothic</vt:lpstr>
      <vt:lpstr>Office Theme</vt:lpstr>
      <vt:lpstr>SMART INDIA HACKATHON 2025</vt:lpstr>
      <vt:lpstr>No More Roll Call: Face Recognition to the Rescue</vt:lpstr>
      <vt:lpstr>TECHNICAL APPROACH</vt:lpstr>
      <vt:lpstr>FEASIBILITY AND VIABILITY</vt:lpstr>
      <vt:lpstr>IMPACT AND BENEFITS</vt:lpstr>
      <vt:lpstr>RESEARCH  AND REFERENCES</vt:lpstr>
    </vt:vector>
  </TitlesOfParts>
  <Manager/>
  <Company>Crowdfunder, Inc.</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Investor Pitch Deck Template</dc:title>
  <dc:subject/>
  <dc:creator>Crowdfunder</dc:creator>
  <cp:keywords/>
  <dc:description/>
  <cp:lastModifiedBy>Rohita Gottumukkala</cp:lastModifiedBy>
  <cp:revision>151</cp:revision>
  <dcterms:created xsi:type="dcterms:W3CDTF">2013-12-12T18:46:50Z</dcterms:created>
  <dcterms:modified xsi:type="dcterms:W3CDTF">2025-09-23T04:32:32Z</dcterms:modified>
  <cp:category/>
</cp:coreProperties>
</file>